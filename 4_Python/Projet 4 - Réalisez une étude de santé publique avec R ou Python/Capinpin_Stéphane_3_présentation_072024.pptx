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bc9e1c9d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bc9e1c9d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bcdbcdd6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bcdbcdd6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bcdbcdd6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bcdbcdd6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d051992a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d051992a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d051992a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d051992a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d051992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d051992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d051992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d051992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d051992a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d051992a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d051992a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d051992a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d051992a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d051992a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d051992a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d051992a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d051992a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d051992a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d051992a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d051992a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d051992a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d051992a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d051992a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d051992a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d051992a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d051992a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d051992a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d051992a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d051992a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d051992a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d051992a6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d051992a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google.com/search?q=Combien+mange+en+moyenne+un+%C3%AAtre+humain+dans+le+monde&amp;oq=Combien+mange+en+moyenne+un+%C3%AAtre+humain+dans+le+monde&amp;gs_lcrp=EgZjaHJvbWUqBggAEEUYOzIGCAAQRRg7MgYIARAuGEDSAQcyMzRqMGoxqAIAsAIA&amp;sourceid=chrome&amp;ie=UTF-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Étude sur l’alimentation dans le monde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Stéphane CAPINPIN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et spécification des données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analyse avec 4 fichiers CSV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fichier de disponibilité alimentaire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fichier sous alimentation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fichier de population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fichier d’aide alimentaire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Data disponible sur FAOSTAT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Méthodologie de l’analyse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Le RGPD ne s’applique pas car il n’y a pas d’identification d’une personne physique ou morale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Déroulement de l’analyse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Importation des librairies et chargement des fichiers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Analyse exploratoire des fichiers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Etude sur la </a:t>
            </a:r>
            <a:r>
              <a:rPr lang="fr"/>
              <a:t>Thaïlande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Proportion de personnes en état de sous-nutrition en 2017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8000"/>
                </a:solidFill>
              </a:rPr>
              <a:t>92,9% en nutrition normale</a:t>
            </a:r>
            <a:endParaRPr b="1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008000"/>
                </a:solidFill>
              </a:rPr>
              <a:t>(7 010 </a:t>
            </a:r>
            <a:r>
              <a:rPr i="1" lang="fr" sz="1200">
                <a:solidFill>
                  <a:srgbClr val="008000"/>
                </a:solidFill>
              </a:rPr>
              <a:t>milliard d’habitants</a:t>
            </a:r>
            <a:r>
              <a:rPr i="1" lang="fr" sz="1200">
                <a:solidFill>
                  <a:srgbClr val="008000"/>
                </a:solidFill>
              </a:rPr>
              <a:t> [7 010 434 111])</a:t>
            </a:r>
            <a:endParaRPr i="1" sz="1200">
              <a:solidFill>
                <a:srgbClr val="008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FF0000"/>
                </a:solidFill>
              </a:rPr>
              <a:t>7,1% de la population est en sous-nutrition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FF0000"/>
                </a:solidFill>
              </a:rPr>
              <a:t>(537 700 000 d’habitants)</a:t>
            </a:r>
            <a:endParaRPr i="1" sz="1200">
              <a:solidFill>
                <a:srgbClr val="FF0000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1512" r="1512" t="0"/>
          <a:stretch/>
        </p:blipFill>
        <p:spPr>
          <a:xfrm>
            <a:off x="5092728" y="1152475"/>
            <a:ext cx="3479235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Nombre théorique de personnes qui pourraient être nourries en 2017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Kcal par jour et par personne : </a:t>
            </a:r>
            <a:r>
              <a:rPr b="1" lang="fr"/>
              <a:t>2 615 Kcal/jour/personne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Nombre de personne : </a:t>
            </a:r>
            <a:r>
              <a:rPr b="1" lang="fr"/>
              <a:t>32 044 milliard (</a:t>
            </a:r>
            <a:r>
              <a:rPr b="1" lang="fr"/>
              <a:t>32 044 </a:t>
            </a:r>
            <a:r>
              <a:rPr b="1" lang="fr"/>
              <a:t>635 394 741)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Source Kcal (google) : </a:t>
            </a:r>
            <a:r>
              <a:rPr lang="fr" u="sng">
                <a:solidFill>
                  <a:schemeClr val="hlink"/>
                </a:solidFill>
                <a:hlinkClick r:id="rId3"/>
              </a:rPr>
              <a:t>lien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Nombre théorique de personnes qui pourraient être nourries uniquement avec les végétaux en 2017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Nombre de personnes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17 260 milliard (</a:t>
            </a:r>
            <a:r>
              <a:rPr b="1" lang="fr"/>
              <a:t>17 260 </a:t>
            </a:r>
            <a:r>
              <a:rPr b="1" lang="fr"/>
              <a:t>764 211 216)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Répartition de l’origine de la nourriture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8000"/>
                </a:solidFill>
              </a:rPr>
              <a:t>28,2 % animale </a:t>
            </a:r>
            <a:endParaRPr b="1">
              <a:solidFill>
                <a:srgbClr val="008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300">
                <a:solidFill>
                  <a:srgbClr val="008000"/>
                </a:solidFill>
              </a:rPr>
              <a:t>soit 34 491,46 </a:t>
            </a:r>
            <a:r>
              <a:rPr i="1" lang="fr" sz="1300">
                <a:solidFill>
                  <a:srgbClr val="008000"/>
                </a:solidFill>
              </a:rPr>
              <a:t>kg/personne/par an</a:t>
            </a:r>
            <a:endParaRPr i="1" sz="1300">
              <a:solidFill>
                <a:srgbClr val="008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008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FFA500"/>
                </a:solidFill>
              </a:rPr>
              <a:t>71,8 % végétale </a:t>
            </a:r>
            <a:endParaRPr b="1">
              <a:solidFill>
                <a:srgbClr val="FFA5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300">
                <a:solidFill>
                  <a:srgbClr val="FFA500"/>
                </a:solidFill>
              </a:rPr>
              <a:t>soit </a:t>
            </a:r>
            <a:r>
              <a:rPr i="1" lang="fr" sz="1300">
                <a:solidFill>
                  <a:srgbClr val="FFA500"/>
                </a:solidFill>
              </a:rPr>
              <a:t>87 710,48 kg/personne/par an</a:t>
            </a:r>
            <a:endParaRPr i="1" sz="1300"/>
          </a:p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150" y="1404750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Répartition de la disponibilité intérieure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2CA02C"/>
                </a:solidFill>
              </a:rPr>
              <a:t>Proportion de Nourriture : 49.51 %</a:t>
            </a:r>
            <a:endParaRPr>
              <a:solidFill>
                <a:srgbClr val="2CA02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83">
                <a:solidFill>
                  <a:srgbClr val="2CA02C"/>
                </a:solidFill>
              </a:rPr>
              <a:t>(soit 4 876 258 tonnes)</a:t>
            </a:r>
            <a:endParaRPr i="1" sz="1183">
              <a:solidFill>
                <a:srgbClr val="2CA02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CA02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467BD"/>
                </a:solidFill>
              </a:rPr>
              <a:t>Proportion de Traitement : 22.38 %</a:t>
            </a:r>
            <a:endParaRPr>
              <a:solidFill>
                <a:srgbClr val="9467B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83">
                <a:solidFill>
                  <a:srgbClr val="9467BD"/>
                </a:solidFill>
              </a:rPr>
              <a:t>(soit 2,204687 tonnes)</a:t>
            </a:r>
            <a:endParaRPr i="1" sz="1183">
              <a:solidFill>
                <a:srgbClr val="9467B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467B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F77B4"/>
                </a:solidFill>
              </a:rPr>
              <a:t>Proportion </a:t>
            </a:r>
            <a:r>
              <a:rPr lang="fr">
                <a:solidFill>
                  <a:srgbClr val="1F77B4"/>
                </a:solidFill>
              </a:rPr>
              <a:t>d'Aliments</a:t>
            </a:r>
            <a:r>
              <a:rPr lang="fr">
                <a:solidFill>
                  <a:srgbClr val="1F77B4"/>
                </a:solidFill>
              </a:rPr>
              <a:t> pour animaux : 13.24 %</a:t>
            </a:r>
            <a:endParaRPr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83">
                <a:solidFill>
                  <a:srgbClr val="1F77B4"/>
                </a:solidFill>
              </a:rPr>
              <a:t>(soit 1 304 245 tonnes)</a:t>
            </a:r>
            <a:endParaRPr i="1" sz="1183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8C564B"/>
                </a:solidFill>
              </a:rPr>
              <a:t>Proportion de Autres Utilisations : 8.78 %</a:t>
            </a:r>
            <a:endParaRPr>
              <a:solidFill>
                <a:srgbClr val="8C564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83">
                <a:solidFill>
                  <a:srgbClr val="8C564B"/>
                </a:solidFill>
              </a:rPr>
              <a:t>(soit 0,865023 tonnes)</a:t>
            </a:r>
            <a:endParaRPr i="1" sz="1183">
              <a:solidFill>
                <a:srgbClr val="8C564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C564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7F0E"/>
                </a:solidFill>
              </a:rPr>
              <a:t>Proportion de Pertes : 4.61 %</a:t>
            </a:r>
            <a:endParaRPr>
              <a:solidFill>
                <a:srgbClr val="FF7F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83">
                <a:solidFill>
                  <a:srgbClr val="FF7F0E"/>
                </a:solidFill>
              </a:rPr>
              <a:t>(soit 453 698 tonnes)</a:t>
            </a:r>
            <a:endParaRPr i="1" sz="1183">
              <a:solidFill>
                <a:srgbClr val="FF7F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FF7F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D62728"/>
                </a:solidFill>
              </a:rPr>
              <a:t>Proportion de Semences : 1.57 %</a:t>
            </a:r>
            <a:endParaRPr>
              <a:solidFill>
                <a:srgbClr val="D627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83">
                <a:solidFill>
                  <a:srgbClr val="D62728"/>
                </a:solidFill>
              </a:rPr>
              <a:t>(soit 0,154681 tonnes)</a:t>
            </a:r>
            <a:endParaRPr i="1" sz="1183">
              <a:solidFill>
                <a:srgbClr val="D62728"/>
              </a:solidFill>
            </a:endParaRPr>
          </a:p>
        </p:txBody>
      </p:sp>
      <p:sp>
        <p:nvSpPr>
          <p:cNvPr id="95" name="Google Shape;95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358793"/>
            <a:ext cx="3999900" cy="3003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 de l’utilisation des principales céréales entre l’alimentation </a:t>
            </a:r>
            <a:r>
              <a:rPr lang="fr">
                <a:solidFill>
                  <a:srgbClr val="1F77B4"/>
                </a:solidFill>
              </a:rPr>
              <a:t>humaine</a:t>
            </a:r>
            <a:r>
              <a:rPr lang="fr"/>
              <a:t> et </a:t>
            </a:r>
            <a:r>
              <a:rPr lang="fr">
                <a:solidFill>
                  <a:srgbClr val="FF7F0E"/>
                </a:solidFill>
              </a:rPr>
              <a:t>animale</a:t>
            </a:r>
            <a:endParaRPr>
              <a:solidFill>
                <a:srgbClr val="FF7F0E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400" y="1438275"/>
            <a:ext cx="6191250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 de l’utilisation des principales céréales entre l’alimentation </a:t>
            </a:r>
            <a:r>
              <a:rPr lang="fr">
                <a:solidFill>
                  <a:srgbClr val="1F77B4"/>
                </a:solidFill>
              </a:rPr>
              <a:t>humaine</a:t>
            </a:r>
            <a:r>
              <a:rPr lang="fr"/>
              <a:t> et </a:t>
            </a:r>
            <a:r>
              <a:rPr lang="fr">
                <a:solidFill>
                  <a:srgbClr val="FF7F0E"/>
                </a:solidFill>
              </a:rPr>
              <a:t>animale</a:t>
            </a:r>
            <a:endParaRPr>
              <a:solidFill>
                <a:srgbClr val="FF7F0E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788" y="1322525"/>
            <a:ext cx="679041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Liste des 10 pays où la proportion de personnes en état de sous-nutrition est la plus forte en 2017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13" y="1322525"/>
            <a:ext cx="829697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Liste des 10 pays qui ont le plus bénéficié de l’aide alimentaire entre 2013 et 2016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5825"/>
            <a:ext cx="8839200" cy="369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Évolution de l’aide alimentaire pour les 5 pays qui en ont le plus bénéficié entre 2013 et 2016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200" y="1338300"/>
            <a:ext cx="6915601" cy="38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Liste des 10 pays qui ont la plus forte disponibilité alimentaire par habitant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813" y="1310500"/>
            <a:ext cx="7140376" cy="38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Liste des 10 pays qui ont la plus faible disponibilité alimentaire par habitant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87" y="1347375"/>
            <a:ext cx="8243024" cy="379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Étude sur la Thaïlande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Proportion de la population sous-alimentées en Thaïlande en 2017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F77B4"/>
                </a:solidFill>
              </a:rPr>
              <a:t>91,8 % en situation normale</a:t>
            </a:r>
            <a:endParaRPr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1F77B4"/>
                </a:solidFill>
              </a:rPr>
              <a:t>(soit 63 009 810 d’habitants)</a:t>
            </a:r>
            <a:endParaRPr i="1" sz="120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7F0E"/>
                </a:solidFill>
              </a:rPr>
              <a:t>8,2 % sous-alimentées</a:t>
            </a:r>
            <a:endParaRPr>
              <a:solidFill>
                <a:srgbClr val="FF7F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FF7F0E"/>
                </a:solidFill>
              </a:rPr>
              <a:t>(soit 6 200 000 d’habitants)</a:t>
            </a:r>
            <a:endParaRPr i="1" sz="1200">
              <a:solidFill>
                <a:srgbClr val="FF7F0E"/>
              </a:solidFill>
            </a:endParaRPr>
          </a:p>
        </p:txBody>
      </p:sp>
      <p:sp>
        <p:nvSpPr>
          <p:cNvPr id="149" name="Google Shape;149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8" y="1342260"/>
            <a:ext cx="3999899" cy="3036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Étude sur la Thaïlande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Exportation du manioc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FF"/>
                </a:solidFill>
              </a:rPr>
              <a:t>83,4</a:t>
            </a:r>
            <a:r>
              <a:rPr lang="fr">
                <a:solidFill>
                  <a:srgbClr val="0000FF"/>
                </a:solidFill>
              </a:rPr>
              <a:t> % exportation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0000FF"/>
                </a:solidFill>
              </a:rPr>
              <a:t>(</a:t>
            </a:r>
            <a:r>
              <a:rPr i="1" lang="fr" sz="1200">
                <a:solidFill>
                  <a:srgbClr val="0000FF"/>
                </a:solidFill>
              </a:rPr>
              <a:t>soit ~2,52 tonnes)</a:t>
            </a:r>
            <a:endParaRPr i="1"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CD853F"/>
                </a:solidFill>
              </a:rPr>
              <a:t>16,6</a:t>
            </a:r>
            <a:r>
              <a:rPr lang="fr">
                <a:solidFill>
                  <a:srgbClr val="CD853F"/>
                </a:solidFill>
              </a:rPr>
              <a:t> % consommation intérieur</a:t>
            </a:r>
            <a:endParaRPr>
              <a:solidFill>
                <a:srgbClr val="CD85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CD853F"/>
                </a:solidFill>
              </a:rPr>
              <a:t>(</a:t>
            </a:r>
            <a:r>
              <a:rPr i="1" lang="fr" sz="1200">
                <a:solidFill>
                  <a:srgbClr val="CD853F"/>
                </a:solidFill>
              </a:rPr>
              <a:t>soit ~0,51 tonnes)</a:t>
            </a:r>
            <a:endParaRPr i="1" sz="1200">
              <a:solidFill>
                <a:srgbClr val="CD85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575" y="1152474"/>
            <a:ext cx="53134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Étude sur la Thaïlande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Disponibilité alimentaire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en k</a:t>
            </a:r>
            <a:r>
              <a:rPr b="1" lang="fr"/>
              <a:t>cal/personne/jour</a:t>
            </a:r>
            <a:r>
              <a:rPr lang="fr"/>
              <a:t> : 2785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en quantité (kg/personne/an)</a:t>
            </a:r>
            <a:r>
              <a:rPr lang="fr"/>
              <a:t> : 586,23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Analyses complémentaires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Conditions climatiques</a:t>
            </a:r>
            <a:r>
              <a:rPr lang="fr"/>
              <a:t>: Sécheresses, inondations,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Conflits et instabilité politique</a:t>
            </a:r>
            <a:r>
              <a:rPr lang="fr"/>
              <a:t>: Perturbation des chaînes d'approvisionnement, déplacements de population.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Pauvreté</a:t>
            </a:r>
            <a:r>
              <a:rPr lang="fr"/>
              <a:t>: Limite l'accès à la nourriture.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Croissance démographique</a:t>
            </a:r>
            <a:r>
              <a:rPr lang="fr"/>
              <a:t>: Augmentation de la demande alimentaire.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Dégradation des sols</a:t>
            </a:r>
            <a:r>
              <a:rPr lang="fr"/>
              <a:t>: Diminution de la productivité agricole.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les pays les plus riches sont ceux qui gaspille le plus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les pays en voie de développement sont les pays qui exporte le plus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il faut trouver une solution sur le long terme contre la faim, mais difficile à </a:t>
            </a:r>
            <a:r>
              <a:rPr lang="fr"/>
              <a:t>régler</a:t>
            </a:r>
            <a:r>
              <a:rPr lang="fr"/>
              <a:t> car chaque pays à ses problèmes spécifiques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En rassemblant toute la disponibilité alimentaire du monde, nous pouvons nourrir </a:t>
            </a:r>
            <a:r>
              <a:rPr b="1" lang="fr"/>
              <a:t>123,21 % de la population mondiale</a:t>
            </a:r>
            <a:r>
              <a:rPr lang="fr"/>
              <a:t> et pourtant la famine est toujours présente.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Merci pour votre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